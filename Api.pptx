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7" r:id="rId22"/>
    <p:sldId id="278" r:id="rId23"/>
    <p:sldId id="276" r:id="rId2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>
      <p:cViewPr varScale="1">
        <p:scale>
          <a:sx n="114" d="100"/>
          <a:sy n="114" d="100"/>
        </p:scale>
        <p:origin x="414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Cím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32" name="Straight Connector 31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85000"/>
                  <a:lumOff val="1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  <a:lumOff val="1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Isosceles Triangle 26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0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1" name="Isosceles Triangle 30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Isosceles Triangle 18"/>
            <p:cNvSpPr/>
            <p:nvPr/>
          </p:nvSpPr>
          <p:spPr>
            <a:xfrm rot="10800000">
              <a:off x="0" y="0"/>
              <a:ext cx="842596" cy="5666154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07067" y="2404534"/>
            <a:ext cx="7766936" cy="1646302"/>
          </a:xfrm>
        </p:spPr>
        <p:txBody>
          <a:bodyPr anchor="b">
            <a:noAutofit/>
          </a:bodyPr>
          <a:lstStyle>
            <a:lvl1pPr algn="r">
              <a:defRPr sz="5400">
                <a:solidFill>
                  <a:schemeClr val="accent1"/>
                </a:solidFill>
              </a:defRPr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07067" y="4050833"/>
            <a:ext cx="7766936" cy="1096899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hu-HU"/>
              <a:t>Kattintson ide az alcím mintájának szerkesztéséhez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1/6/2026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ím és tartal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1/6/2026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zakaszfejlé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2700867"/>
            <a:ext cx="8596668" cy="1826581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1/6/2026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tartalomrész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77334" y="2160589"/>
            <a:ext cx="4184035" cy="3880772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89970" y="2160589"/>
            <a:ext cx="4184034" cy="3880773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712588-04B1-427B-82EE-E8DB90309F08}" type="datetimeFigureOut">
              <a:rPr lang="en-US" dirty="0"/>
              <a:t>1/6/2026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F9F0C5-380F-41C2-899A-BAC0F0927E16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Összehasonlítá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745" y="2160983"/>
            <a:ext cx="418562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75745" y="2737245"/>
            <a:ext cx="4185623" cy="3304117"/>
          </a:xfrm>
        </p:spPr>
        <p:txBody>
          <a:bodyPr>
            <a:normAutofit/>
          </a:bodyPr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88383" y="2160983"/>
            <a:ext cx="418561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88384" y="2737245"/>
            <a:ext cx="4185617" cy="3304117"/>
          </a:xfrm>
        </p:spPr>
        <p:txBody>
          <a:bodyPr>
            <a:normAutofit/>
          </a:bodyPr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1/6/2026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Csak cí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</p:spPr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1/6/2026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Ü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1/6/2026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Tartalomrész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1498604"/>
            <a:ext cx="3854528" cy="1278466"/>
          </a:xfrm>
        </p:spPr>
        <p:txBody>
          <a:bodyPr anchor="b">
            <a:normAutofit/>
          </a:bodyPr>
          <a:lstStyle>
            <a:lvl1pPr>
              <a:defRPr sz="2000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0461" y="514924"/>
            <a:ext cx="4513541" cy="5526437"/>
          </a:xfrm>
        </p:spPr>
        <p:txBody>
          <a:bodyPr>
            <a:normAutofit/>
          </a:bodyPr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2777069"/>
            <a:ext cx="3854528" cy="2584449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063" indent="0">
              <a:buNone/>
              <a:defRPr sz="1400"/>
            </a:lvl2pPr>
            <a:lvl3pPr marL="914126" indent="0">
              <a:buNone/>
              <a:defRPr sz="1200"/>
            </a:lvl3pPr>
            <a:lvl4pPr marL="1371189" indent="0">
              <a:buNone/>
              <a:defRPr sz="1000"/>
            </a:lvl4pPr>
            <a:lvl5pPr marL="1828251" indent="0">
              <a:buNone/>
              <a:defRPr sz="1000"/>
            </a:lvl5pPr>
            <a:lvl6pPr marL="2285314" indent="0">
              <a:buNone/>
              <a:defRPr sz="1000"/>
            </a:lvl6pPr>
            <a:lvl7pPr marL="2742377" indent="0">
              <a:buNone/>
              <a:defRPr sz="1000"/>
            </a:lvl7pPr>
            <a:lvl8pPr marL="3199440" indent="0">
              <a:buNone/>
              <a:defRPr sz="1000"/>
            </a:lvl8pPr>
            <a:lvl9pPr marL="3656503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A54C80-263E-416B-A8E0-580EDEADCBDC}" type="datetimeFigureOut">
              <a:rPr lang="en-US" dirty="0"/>
              <a:t>1/6/2026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9954A3-9DFD-4C44-94BA-B95130A3BA1C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Kép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4800600"/>
            <a:ext cx="859666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77334" y="609600"/>
            <a:ext cx="8596668" cy="3845718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hu-HU"/>
              <a:t>Kép beszúrásához kattintson az ikonra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5367338"/>
            <a:ext cx="8596667" cy="674024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1/6/2026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ím és képaláírá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609600"/>
            <a:ext cx="8596668" cy="3403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1/6/2026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dézet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366139" y="3632200"/>
            <a:ext cx="722452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1/6/2026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  <p:sp>
        <p:nvSpPr>
          <p:cNvPr id="20" name="TextBox 19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”</a:t>
            </a: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évkárty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1931988"/>
            <a:ext cx="8596668" cy="2595460"/>
          </a:xfrm>
        </p:spPr>
        <p:txBody>
          <a:bodyPr anchor="b">
            <a:normAutofit/>
          </a:bodyPr>
          <a:lstStyle>
            <a:lvl1pPr algn="l">
              <a:defRPr sz="4400" b="0" cap="none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1/6/2026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évkártya idézet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1/6/2026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  <p:sp>
        <p:nvSpPr>
          <p:cNvPr id="24" name="TextBox 23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”</a:t>
            </a:r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gaz vagy hami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799" y="609600"/>
            <a:ext cx="8588203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1/6/2026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Cím és függőlege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C6B4A9-1611-4792-9094-5F34BCA07E0B}" type="datetimeFigureOut">
              <a:rPr lang="en-US" dirty="0"/>
              <a:t>1/6/2026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333C77-0158-454C-844F-B7AB9BD7DAD4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Függőleges cím é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967673" y="609599"/>
            <a:ext cx="1304743" cy="5251451"/>
          </a:xfrm>
        </p:spPr>
        <p:txBody>
          <a:bodyPr vert="eaVert" anchor="ctr"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77335" y="609600"/>
            <a:ext cx="7060150" cy="5251450"/>
          </a:xfrm>
        </p:spPr>
        <p:txBody>
          <a:bodyPr vert="eaVer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1/6/2026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85000"/>
                  <a:lumOff val="1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  <a:lumOff val="1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Isosceles Triangle 2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4" y="2160589"/>
            <a:ext cx="8596668" cy="38807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205133" y="6041362"/>
            <a:ext cx="9119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dirty="0"/>
              <a:pPr/>
              <a:t>1/6/2026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1"/>
                </a:solidFill>
              </a:defRPr>
            </a:lvl1pPr>
          </a:lstStyle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65" r:id="rId4"/>
    <p:sldLayoutId id="2147483653" r:id="rId5"/>
    <p:sldLayoutId id="2147483654" r:id="rId6"/>
    <p:sldLayoutId id="2147483655" r:id="rId7"/>
    <p:sldLayoutId id="2147483666" r:id="rId8"/>
    <p:sldLayoutId id="2147483657" r:id="rId9"/>
    <p:sldLayoutId id="2147483660" r:id="rId10"/>
    <p:sldLayoutId id="2147483661" r:id="rId11"/>
    <p:sldLayoutId id="2147483662" r:id="rId12"/>
    <p:sldLayoutId id="2147483663" r:id="rId13"/>
    <p:sldLayoutId id="2147483664" r:id="rId14"/>
    <p:sldLayoutId id="2147483667" r:id="rId15"/>
    <p:sldLayoutId id="2147483659" r:id="rId16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F258E962-F397-4638-BEFF-1381EE15B05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hu-HU" dirty="0" err="1"/>
              <a:t>Api</a:t>
            </a:r>
            <a:endParaRPr lang="hu-HU" dirty="0"/>
          </a:p>
        </p:txBody>
      </p:sp>
      <p:sp>
        <p:nvSpPr>
          <p:cNvPr id="3" name="Alcím 2">
            <a:extLst>
              <a:ext uri="{FF2B5EF4-FFF2-40B4-BE49-F238E27FC236}">
                <a16:creationId xmlns:a16="http://schemas.microsoft.com/office/drawing/2014/main" id="{DA319984-07B9-453D-A706-A77CEA3D73E9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06056945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108D190D-0FEA-4FA0-A3D7-8530218076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4819C21C-6BB1-40D1-AF7D-CA7C4EA0181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hu-HU"/>
          </a:p>
        </p:txBody>
      </p:sp>
      <p:pic>
        <p:nvPicPr>
          <p:cNvPr id="4" name="Kép 3">
            <a:extLst>
              <a:ext uri="{FF2B5EF4-FFF2-40B4-BE49-F238E27FC236}">
                <a16:creationId xmlns:a16="http://schemas.microsoft.com/office/drawing/2014/main" id="{9A365060-4755-4A2F-8980-8AC4971F96D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2597" y="113837"/>
            <a:ext cx="11326806" cy="66303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8007327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945141B8-87EE-4FB8-9850-2F5B7E4A77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84501C0D-96C2-4E17-A026-B1EEE0CDC75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u-HU" dirty="0"/>
              <a:t>Az automatizálás az emberi beavatkozást csökkentő </a:t>
            </a:r>
            <a:r>
              <a:rPr lang="hu-HU" dirty="0" err="1"/>
              <a:t>önvezérelt</a:t>
            </a:r>
            <a:r>
              <a:rPr lang="hu-HU" dirty="0"/>
              <a:t> folyamat, amely növeli a hatékonyságot, csökkenti a hibákat, és biztonságosabbá, gyorsabbá teszi a munkavégzést.</a:t>
            </a:r>
          </a:p>
          <a:p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186865362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EE42901E-BDC5-42B3-8E23-5D89E0C640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hu-HU" dirty="0"/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E93F6B9E-BCA8-4072-9329-1722A06D087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u-HU" dirty="0"/>
              <a:t>Az intelligens (okos) eszközök külső információk alapján képesek viselkedésüket megváltoztatni, mert hálózatautomatizálási eszközökkel úgy programozzák őket, hogy a környezetből tanulva irányítsák működésüket</a:t>
            </a:r>
          </a:p>
        </p:txBody>
      </p:sp>
    </p:spTree>
    <p:extLst>
      <p:ext uri="{BB962C8B-B14F-4D97-AF65-F5344CB8AC3E}">
        <p14:creationId xmlns:p14="http://schemas.microsoft.com/office/powerpoint/2010/main" val="421373655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21FAC198-D378-4AAA-A9CC-886AD2FA9C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42D99DB4-FFA0-41E2-A4B1-DC21AA4E605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u-HU" dirty="0"/>
              <a:t>Az adatformátum az adatok strukturált tárolásának és megosztásának módja, amely biztosítja, hogy az információk a címzett (ember vagy számítógép) számára könnyen érthetők legyenek, például a weben használt HTML esetében.</a:t>
            </a:r>
          </a:p>
        </p:txBody>
      </p:sp>
    </p:spTree>
    <p:extLst>
      <p:ext uri="{BB962C8B-B14F-4D97-AF65-F5344CB8AC3E}">
        <p14:creationId xmlns:p14="http://schemas.microsoft.com/office/powerpoint/2010/main" val="378895837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404B6E6F-1F1C-489E-ABF0-F8AC18C696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hu-HU" dirty="0"/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08FC3973-00B7-4154-9025-B46E836F93C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4" y="1145521"/>
            <a:ext cx="8596668" cy="3880773"/>
          </a:xfrm>
        </p:spPr>
        <p:txBody>
          <a:bodyPr/>
          <a:lstStyle/>
          <a:p>
            <a:r>
              <a:rPr lang="hu-HU" dirty="0"/>
              <a:t>Az </a:t>
            </a:r>
            <a:r>
              <a:rPr lang="hu-HU" dirty="0" err="1"/>
              <a:t>adatformatumoknak</a:t>
            </a:r>
            <a:r>
              <a:rPr lang="hu-HU" dirty="0"/>
              <a:t> meghatározott szabályai vannak (szintaxis, objektumok és kulcs–érték párok), amelyek biztosítják, hogy az adatok egységesen, gépek által is értelmezhető módon legyenek tárolva és továbbítva, például JSON formátumban egy API válaszában.</a:t>
            </a:r>
          </a:p>
          <a:p>
            <a:endParaRPr lang="hu-HU" dirty="0"/>
          </a:p>
        </p:txBody>
      </p:sp>
      <p:pic>
        <p:nvPicPr>
          <p:cNvPr id="4" name="Kép 3">
            <a:extLst>
              <a:ext uri="{FF2B5EF4-FFF2-40B4-BE49-F238E27FC236}">
                <a16:creationId xmlns:a16="http://schemas.microsoft.com/office/drawing/2014/main" id="{41302D57-79EE-458A-8C99-F8D4364DB8A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7334" y="2909815"/>
            <a:ext cx="10336067" cy="1038370"/>
          </a:xfrm>
          <a:prstGeom prst="rect">
            <a:avLst/>
          </a:prstGeom>
        </p:spPr>
      </p:pic>
      <p:pic>
        <p:nvPicPr>
          <p:cNvPr id="5" name="Kép 4">
            <a:extLst>
              <a:ext uri="{FF2B5EF4-FFF2-40B4-BE49-F238E27FC236}">
                <a16:creationId xmlns:a16="http://schemas.microsoft.com/office/drawing/2014/main" id="{A3405526-8E75-418F-B9DE-F452660235A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7334" y="3948185"/>
            <a:ext cx="11069595" cy="27816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3106844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08AA7FD1-5BED-4394-AF12-B98B065267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C48F5777-938A-4226-9AAE-05EE112806B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hu-HU"/>
          </a:p>
        </p:txBody>
      </p:sp>
      <p:pic>
        <p:nvPicPr>
          <p:cNvPr id="4" name="Kép 3">
            <a:extLst>
              <a:ext uri="{FF2B5EF4-FFF2-40B4-BE49-F238E27FC236}">
                <a16:creationId xmlns:a16="http://schemas.microsoft.com/office/drawing/2014/main" id="{AE88037C-0F28-4F95-AC22-CB0E79FEAE6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85643"/>
            <a:ext cx="7743214" cy="2650269"/>
          </a:xfrm>
          <a:prstGeom prst="rect">
            <a:avLst/>
          </a:prstGeom>
        </p:spPr>
      </p:pic>
      <p:pic>
        <p:nvPicPr>
          <p:cNvPr id="5" name="Kép 4">
            <a:extLst>
              <a:ext uri="{FF2B5EF4-FFF2-40B4-BE49-F238E27FC236}">
                <a16:creationId xmlns:a16="http://schemas.microsoft.com/office/drawing/2014/main" id="{4AE98CE3-DB4A-42B3-B34A-A3C573BC2F6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26341" y="2735912"/>
            <a:ext cx="6672194" cy="41220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0684898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BA5C8491-E670-46F4-8EF0-0CB38CF665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FE1A6782-D676-46FF-808A-8E34C2E2EC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hu-HU"/>
          </a:p>
        </p:txBody>
      </p:sp>
      <p:pic>
        <p:nvPicPr>
          <p:cNvPr id="4" name="Kép 3">
            <a:extLst>
              <a:ext uri="{FF2B5EF4-FFF2-40B4-BE49-F238E27FC236}">
                <a16:creationId xmlns:a16="http://schemas.microsoft.com/office/drawing/2014/main" id="{8D769BAD-447E-4C6D-81B1-020C7E4C737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1155332" cy="2429214"/>
          </a:xfrm>
          <a:prstGeom prst="rect">
            <a:avLst/>
          </a:prstGeom>
        </p:spPr>
      </p:pic>
      <p:pic>
        <p:nvPicPr>
          <p:cNvPr id="5" name="Kép 4">
            <a:extLst>
              <a:ext uri="{FF2B5EF4-FFF2-40B4-BE49-F238E27FC236}">
                <a16:creationId xmlns:a16="http://schemas.microsoft.com/office/drawing/2014/main" id="{C7784C59-6FDF-40B7-B336-C05782DFF1F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2063332"/>
            <a:ext cx="10147260" cy="47946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5699868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CD3FA046-23DB-4DA1-BF06-D341F1CB90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AC299C04-FD1B-47C2-8D71-B028BC1D0EA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hu-HU"/>
          </a:p>
        </p:txBody>
      </p:sp>
      <p:pic>
        <p:nvPicPr>
          <p:cNvPr id="4" name="Kép 3">
            <a:extLst>
              <a:ext uri="{FF2B5EF4-FFF2-40B4-BE49-F238E27FC236}">
                <a16:creationId xmlns:a16="http://schemas.microsoft.com/office/drawing/2014/main" id="{C169ECD4-78ED-4F32-BFAE-6B12C3DC4D1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597" y="699706"/>
            <a:ext cx="11688806" cy="54585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3040767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E7CAAEA2-A57F-45C0-97D1-7B08A09356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623B7348-401B-4CC6-BA15-3DD7A16E183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5055" y="676712"/>
            <a:ext cx="8596668" cy="3880773"/>
          </a:xfrm>
        </p:spPr>
        <p:txBody>
          <a:bodyPr/>
          <a:lstStyle/>
          <a:p>
            <a:r>
              <a:rPr lang="hu-HU" dirty="0"/>
              <a:t>A YAML egy ember által könnyen olvasható </a:t>
            </a:r>
            <a:r>
              <a:rPr lang="hu-HU" dirty="0" err="1"/>
              <a:t>adatformatum</a:t>
            </a:r>
            <a:r>
              <a:rPr lang="hu-HU" dirty="0"/>
              <a:t>, amely a JSON-</a:t>
            </a:r>
            <a:r>
              <a:rPr lang="hu-HU" dirty="0" err="1"/>
              <a:t>hez</a:t>
            </a:r>
            <a:r>
              <a:rPr lang="hu-HU" dirty="0"/>
              <a:t> hasonló, de egyszerűbb, behúzáson alapuló szerkezettel teszi lehetővé az adatok tárolását, átvitelét és feldolgozását.</a:t>
            </a:r>
          </a:p>
        </p:txBody>
      </p:sp>
      <p:pic>
        <p:nvPicPr>
          <p:cNvPr id="4" name="Kép 3">
            <a:extLst>
              <a:ext uri="{FF2B5EF4-FFF2-40B4-BE49-F238E27FC236}">
                <a16:creationId xmlns:a16="http://schemas.microsoft.com/office/drawing/2014/main" id="{B06ABF55-CB13-495E-B0DB-F59C7209C48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2330" y="2265027"/>
            <a:ext cx="10612331" cy="43916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2799447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CE69AA15-9B20-4821-85F5-8780C1E5EC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D5112B43-A38C-4F34-A5DA-2D38C98FD91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hu-HU"/>
          </a:p>
        </p:txBody>
      </p:sp>
      <p:pic>
        <p:nvPicPr>
          <p:cNvPr id="4" name="Kép 3">
            <a:extLst>
              <a:ext uri="{FF2B5EF4-FFF2-40B4-BE49-F238E27FC236}">
                <a16:creationId xmlns:a16="http://schemas.microsoft.com/office/drawing/2014/main" id="{98693DDD-C43C-40A5-A635-E3213BE50A2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1241" y="304364"/>
            <a:ext cx="10193173" cy="62492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8143946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5E96140A-E854-4A36-98CE-AC66E436CC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E4704F25-975F-4D12-887A-2546D89218A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hu-HU"/>
          </a:p>
        </p:txBody>
      </p:sp>
      <p:pic>
        <p:nvPicPr>
          <p:cNvPr id="4" name="Kép 3">
            <a:extLst>
              <a:ext uri="{FF2B5EF4-FFF2-40B4-BE49-F238E27FC236}">
                <a16:creationId xmlns:a16="http://schemas.microsoft.com/office/drawing/2014/main" id="{28DF740F-115F-455F-885F-A909676BE6A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7334" y="1270000"/>
            <a:ext cx="10050278" cy="47631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891373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03AE2DC8-48EF-4B4B-AD78-74A22B9EFB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0D5C149C-30BF-442E-AB86-402D4702F36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hu-HU"/>
          </a:p>
        </p:txBody>
      </p:sp>
      <p:pic>
        <p:nvPicPr>
          <p:cNvPr id="4" name="Kép 3">
            <a:extLst>
              <a:ext uri="{FF2B5EF4-FFF2-40B4-BE49-F238E27FC236}">
                <a16:creationId xmlns:a16="http://schemas.microsoft.com/office/drawing/2014/main" id="{FC845103-6972-4489-9421-7C97EE7ED2B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338466"/>
            <a:ext cx="5159229" cy="3619418"/>
          </a:xfrm>
          <a:prstGeom prst="rect">
            <a:avLst/>
          </a:prstGeom>
        </p:spPr>
      </p:pic>
      <p:pic>
        <p:nvPicPr>
          <p:cNvPr id="5" name="Kép 4">
            <a:extLst>
              <a:ext uri="{FF2B5EF4-FFF2-40B4-BE49-F238E27FC236}">
                <a16:creationId xmlns:a16="http://schemas.microsoft.com/office/drawing/2014/main" id="{6221F880-37F3-47A9-9777-7A150169690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54972" y="1207789"/>
            <a:ext cx="6929307" cy="3880773"/>
          </a:xfrm>
          <a:prstGeom prst="rect">
            <a:avLst/>
          </a:prstGeom>
        </p:spPr>
      </p:pic>
      <p:pic>
        <p:nvPicPr>
          <p:cNvPr id="6" name="Kép 5">
            <a:extLst>
              <a:ext uri="{FF2B5EF4-FFF2-40B4-BE49-F238E27FC236}">
                <a16:creationId xmlns:a16="http://schemas.microsoft.com/office/drawing/2014/main" id="{B4A79EFF-D1A1-4300-A1E1-0038C5B524D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400" y="1490866"/>
            <a:ext cx="5159229" cy="36194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8910388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F2D9C9D4-FC18-4BA0-9093-7BE7944E94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811090D2-1694-4BB6-B061-4CE201F2C90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hu-HU"/>
          </a:p>
        </p:txBody>
      </p:sp>
      <p:pic>
        <p:nvPicPr>
          <p:cNvPr id="4" name="Kép 3">
            <a:extLst>
              <a:ext uri="{FF2B5EF4-FFF2-40B4-BE49-F238E27FC236}">
                <a16:creationId xmlns:a16="http://schemas.microsoft.com/office/drawing/2014/main" id="{0B0967D8-DF5D-4056-9A93-51CE00B22A2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4624" y="547285"/>
            <a:ext cx="10402752" cy="57634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7146861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D85CFD41-7DCF-449A-99A3-0F684E0616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6AB1DAD5-83EC-4B2D-B728-01BB4169B26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8219" y="205954"/>
            <a:ext cx="8596668" cy="3880773"/>
          </a:xfrm>
        </p:spPr>
        <p:txBody>
          <a:bodyPr/>
          <a:lstStyle/>
          <a:p>
            <a:r>
              <a:rPr lang="hu-HU" dirty="0"/>
              <a:t>A SOAP egy XML-alapú üzenetküldési protokoll, amely lassúnak és összetettnek bizonyult, ezért fejlesztették ki az egyszerűbb, XML-t nem igénylő REST API-t, amely HTTP-t használva könnyen skálázható, gyors és népszerű webszolgáltatásokhoz; az RPC, XML-RPC és JSON-RPC ehhez hasonlóan távoli eljáráshívásra szolgál, de különböznek formázásuk és rugalmasságuk tekintetében.</a:t>
            </a:r>
          </a:p>
          <a:p>
            <a:endParaRPr lang="hu-HU" dirty="0"/>
          </a:p>
        </p:txBody>
      </p:sp>
      <p:pic>
        <p:nvPicPr>
          <p:cNvPr id="4" name="Kép 3">
            <a:extLst>
              <a:ext uri="{FF2B5EF4-FFF2-40B4-BE49-F238E27FC236}">
                <a16:creationId xmlns:a16="http://schemas.microsoft.com/office/drawing/2014/main" id="{662985BA-F939-4FA3-B454-4B38B9F6D64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670" y="1930400"/>
            <a:ext cx="9910199" cy="49301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774509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781BE1E3-8F0E-4BDB-9611-2BDE5C8701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2AE0A4D1-CBCA-40A7-ABC7-A90B0BFCD33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4" y="1046828"/>
            <a:ext cx="8596668" cy="3880773"/>
          </a:xfrm>
        </p:spPr>
        <p:txBody>
          <a:bodyPr/>
          <a:lstStyle/>
          <a:p>
            <a:r>
              <a:rPr lang="hu-HU" dirty="0"/>
              <a:t>A webböngészők HTTP/HTTPS protokollon GET kéréssel kommunikálnak a webszerverekkel, míg a REST egy olyan HTTP-alapú </a:t>
            </a:r>
            <a:r>
              <a:rPr lang="hu-HU" dirty="0" err="1"/>
              <a:t>architekturstílus</a:t>
            </a:r>
            <a:r>
              <a:rPr lang="hu-HU" dirty="0"/>
              <a:t>, amely kliens–szerver felépítéssel, állapotmentes működéssel és </a:t>
            </a:r>
            <a:r>
              <a:rPr lang="hu-HU" dirty="0" err="1"/>
              <a:t>gyorsítótárazható</a:t>
            </a:r>
            <a:r>
              <a:rPr lang="hu-HU" dirty="0"/>
              <a:t> válaszokkal szabályozza az API-k működését.</a:t>
            </a:r>
          </a:p>
        </p:txBody>
      </p:sp>
      <p:pic>
        <p:nvPicPr>
          <p:cNvPr id="4" name="Kép 3">
            <a:extLst>
              <a:ext uri="{FF2B5EF4-FFF2-40B4-BE49-F238E27FC236}">
                <a16:creationId xmlns:a16="http://schemas.microsoft.com/office/drawing/2014/main" id="{AC4369F9-2354-44BA-9DD4-FEDC5A1D552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7591" y="2437783"/>
            <a:ext cx="10059804" cy="44202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1623368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A0114D13-621A-475C-ADE3-97EA636DC4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5A04BE51-FEEA-4CD8-9B5C-866856DFD3E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u-HU" dirty="0"/>
              <a:t>A </a:t>
            </a:r>
            <a:r>
              <a:rPr lang="hu-HU" dirty="0" err="1"/>
              <a:t>RESTful</a:t>
            </a:r>
            <a:r>
              <a:rPr lang="hu-HU" dirty="0"/>
              <a:t> webszolgáltatás HTTP-re épül, egységes URI-</a:t>
            </a:r>
            <a:r>
              <a:rPr lang="hu-HU" dirty="0" err="1"/>
              <a:t>val</a:t>
            </a:r>
            <a:r>
              <a:rPr lang="hu-HU" dirty="0"/>
              <a:t> azonosított erőforrásokat, szabványos </a:t>
            </a:r>
            <a:r>
              <a:rPr lang="hu-HU" dirty="0" err="1"/>
              <a:t>adatformatumokat</a:t>
            </a:r>
            <a:r>
              <a:rPr lang="hu-HU" dirty="0"/>
              <a:t> (pl. JSON, XML), HTTP-metódusokat és hipertext-vezérelt működést használ a CRUD műveletek megvalósítására.</a:t>
            </a:r>
          </a:p>
        </p:txBody>
      </p:sp>
      <p:pic>
        <p:nvPicPr>
          <p:cNvPr id="4" name="Kép 3">
            <a:extLst>
              <a:ext uri="{FF2B5EF4-FFF2-40B4-BE49-F238E27FC236}">
                <a16:creationId xmlns:a16="http://schemas.microsoft.com/office/drawing/2014/main" id="{6965F3BD-F9CB-4A62-87E9-5E3A5DEDA7B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012" y="3488955"/>
            <a:ext cx="10040751" cy="30007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4712864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5F82DA50-1539-44BA-98C7-045EEF1CCD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CAF30636-7172-4FEF-BE98-1E4BEC475AC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hu-HU"/>
          </a:p>
        </p:txBody>
      </p:sp>
      <p:pic>
        <p:nvPicPr>
          <p:cNvPr id="4" name="Kép 3">
            <a:extLst>
              <a:ext uri="{FF2B5EF4-FFF2-40B4-BE49-F238E27FC236}">
                <a16:creationId xmlns:a16="http://schemas.microsoft.com/office/drawing/2014/main" id="{FE4A42C4-7E7E-459A-A829-6F35FECDF5A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6966" y="785443"/>
            <a:ext cx="10698068" cy="52871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7754836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52115373-B91D-46D9-843D-72D4775F35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1048DBB1-4BC7-4F7D-8DD8-0311D876529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4" y="935796"/>
            <a:ext cx="8596668" cy="3880773"/>
          </a:xfrm>
        </p:spPr>
        <p:txBody>
          <a:bodyPr/>
          <a:lstStyle/>
          <a:p>
            <a:r>
              <a:rPr lang="hu-HU" dirty="0"/>
              <a:t>Egy </a:t>
            </a:r>
            <a:r>
              <a:rPr lang="hu-HU" dirty="0" err="1"/>
              <a:t>RESTful</a:t>
            </a:r>
            <a:r>
              <a:rPr lang="hu-HU" dirty="0"/>
              <a:t> webszolgáltatásban az erőforrás URI-</a:t>
            </a:r>
            <a:r>
              <a:rPr lang="hu-HU" dirty="0" err="1"/>
              <a:t>jára</a:t>
            </a:r>
            <a:r>
              <a:rPr lang="hu-HU" dirty="0"/>
              <a:t> küldött kérés választ eredményez, amely jellemzően JSON formátumú adat, de lehet HTML, XML vagy más formátum is.</a:t>
            </a:r>
          </a:p>
        </p:txBody>
      </p:sp>
      <p:pic>
        <p:nvPicPr>
          <p:cNvPr id="4" name="Kép 3">
            <a:extLst>
              <a:ext uri="{FF2B5EF4-FFF2-40B4-BE49-F238E27FC236}">
                <a16:creationId xmlns:a16="http://schemas.microsoft.com/office/drawing/2014/main" id="{1000E9C1-74EF-4A9C-AD86-13259602375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7334" y="2355313"/>
            <a:ext cx="10545647" cy="41439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8310312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02EE6713-E95D-4FB9-B375-FC9CE90F94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EC212141-A9FB-460A-9F05-2B4CBE4D03F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hu-HU"/>
          </a:p>
        </p:txBody>
      </p:sp>
      <p:pic>
        <p:nvPicPr>
          <p:cNvPr id="4" name="Kép 3">
            <a:extLst>
              <a:ext uri="{FF2B5EF4-FFF2-40B4-BE49-F238E27FC236}">
                <a16:creationId xmlns:a16="http://schemas.microsoft.com/office/drawing/2014/main" id="{AD47A8BD-0B67-4A12-9ADD-4598C2C3325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03979" y="0"/>
            <a:ext cx="8384042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8058945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F64BAF62-76D3-42E1-831D-F45B5277B9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A546EB6E-0DE8-48D6-ACD2-70D9FB602A6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u-HU" dirty="0"/>
              <a:t>A hagyományos hálózatkonfigurálás során a rendszergazdák kézzel, CLI-n keresztül állítják be az eszközöket, ami időigényes és hibára hajlamos, míg az SNMP főként hálózati felügyeletre és monitorozásra használható, de konfigurációs automatizálásra nem alkalmas.</a:t>
            </a:r>
          </a:p>
        </p:txBody>
      </p:sp>
    </p:spTree>
    <p:extLst>
      <p:ext uri="{BB962C8B-B14F-4D97-AF65-F5344CB8AC3E}">
        <p14:creationId xmlns:p14="http://schemas.microsoft.com/office/powerpoint/2010/main" val="56792558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93CBD08D-A531-4491-B2F4-721676AB7C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70A97FC7-D34F-4068-9DB4-041676C19BC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u-HU" dirty="0"/>
              <a:t>A hálózatautomatizálás lehetővé teszi, hogy a rendszergazdák több száz vagy ezer fizikai és virtuális eszközt szoftverekkel, protokollokkal (pl. REST) és eszközökkel (pl. </a:t>
            </a:r>
            <a:r>
              <a:rPr lang="hu-HU" dirty="0" err="1"/>
              <a:t>Ansible</a:t>
            </a:r>
            <a:r>
              <a:rPr lang="hu-HU" dirty="0"/>
              <a:t>, </a:t>
            </a:r>
            <a:r>
              <a:rPr lang="hu-HU" dirty="0" err="1"/>
              <a:t>Puppet</a:t>
            </a:r>
            <a:r>
              <a:rPr lang="hu-HU" dirty="0"/>
              <a:t>, Chef, Python, JSON, XML) automatikusan </a:t>
            </a:r>
            <a:r>
              <a:rPr lang="hu-HU" dirty="0" err="1"/>
              <a:t>monitorozzanak</a:t>
            </a:r>
            <a:r>
              <a:rPr lang="hu-HU" dirty="0"/>
              <a:t>, felügyeljenek és konfiguráljanak.</a:t>
            </a:r>
          </a:p>
          <a:p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208100869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B98EFFA6-DCD7-4E9C-A01E-9D79CD9C13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99E9DF1D-D678-4A19-BA21-19043B9EB50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4" y="449234"/>
            <a:ext cx="8596668" cy="3880773"/>
          </a:xfrm>
        </p:spPr>
        <p:txBody>
          <a:bodyPr/>
          <a:lstStyle/>
          <a:p>
            <a:r>
              <a:rPr lang="hu-HU" dirty="0"/>
              <a:t>A konfigurációkezelő eszközök, mint az </a:t>
            </a:r>
            <a:r>
              <a:rPr lang="hu-HU" dirty="0" err="1"/>
              <a:t>Ansible</a:t>
            </a:r>
            <a:r>
              <a:rPr lang="hu-HU" dirty="0"/>
              <a:t>, Chef, </a:t>
            </a:r>
            <a:r>
              <a:rPr lang="hu-HU" dirty="0" err="1"/>
              <a:t>Puppet</a:t>
            </a:r>
            <a:r>
              <a:rPr lang="hu-HU" dirty="0"/>
              <a:t> vagy </a:t>
            </a:r>
            <a:r>
              <a:rPr lang="hu-HU" dirty="0" err="1"/>
              <a:t>SaltStack</a:t>
            </a:r>
            <a:r>
              <a:rPr lang="hu-HU" dirty="0"/>
              <a:t>, </a:t>
            </a:r>
            <a:r>
              <a:rPr lang="hu-HU" dirty="0" err="1"/>
              <a:t>RESTful</a:t>
            </a:r>
            <a:r>
              <a:rPr lang="hu-HU" dirty="0"/>
              <a:t> API-</a:t>
            </a:r>
            <a:r>
              <a:rPr lang="hu-HU" dirty="0" err="1"/>
              <a:t>kon</a:t>
            </a:r>
            <a:r>
              <a:rPr lang="hu-HU" dirty="0"/>
              <a:t> keresztül automatizálják és összehangolják a hálózati eszközök szoftver-, protokoll- és ACL-konfigurációit a rendszergazdák számára.</a:t>
            </a:r>
          </a:p>
        </p:txBody>
      </p:sp>
      <p:pic>
        <p:nvPicPr>
          <p:cNvPr id="4" name="Kép 3">
            <a:extLst>
              <a:ext uri="{FF2B5EF4-FFF2-40B4-BE49-F238E27FC236}">
                <a16:creationId xmlns:a16="http://schemas.microsoft.com/office/drawing/2014/main" id="{6611BDB6-83A9-4D5B-A7C8-0FB8353A3E2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0907" y="1402275"/>
            <a:ext cx="8596668" cy="50987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27022225"/>
      </p:ext>
    </p:extLst>
  </p:cSld>
  <p:clrMapOvr>
    <a:masterClrMapping/>
  </p:clrMapOvr>
</p:sld>
</file>

<file path=ppt/theme/theme1.xml><?xml version="1.0" encoding="utf-8"?>
<a:theme xmlns:a="http://schemas.openxmlformats.org/drawingml/2006/main" name="Dimenzió">
  <a:themeElements>
    <a:clrScheme name="Facet">
      <a:dk1>
        <a:sysClr val="windowText" lastClr="000000"/>
      </a:dk1>
      <a:lt1>
        <a:sysClr val="window" lastClr="FFFFFF"/>
      </a:lt1>
      <a:dk2>
        <a:srgbClr val="2C3C43"/>
      </a:dk2>
      <a:lt2>
        <a:srgbClr val="EBEBEB"/>
      </a:lt2>
      <a:accent1>
        <a:srgbClr val="90C226"/>
      </a:accent1>
      <a:accent2>
        <a:srgbClr val="54A021"/>
      </a:accent2>
      <a:accent3>
        <a:srgbClr val="E6B91E"/>
      </a:accent3>
      <a:accent4>
        <a:srgbClr val="E76618"/>
      </a:accent4>
      <a:accent5>
        <a:srgbClr val="C42F1A"/>
      </a:accent5>
      <a:accent6>
        <a:srgbClr val="918655"/>
      </a:accent6>
      <a:hlink>
        <a:srgbClr val="99CA3C"/>
      </a:hlink>
      <a:folHlink>
        <a:srgbClr val="B9D181"/>
      </a:folHlink>
    </a:clrScheme>
    <a:fontScheme name="Facet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8C59B386-999D-4CB6-B907-9F3997C027CC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0</TotalTime>
  <Words>423</Words>
  <Application>Microsoft Office PowerPoint</Application>
  <PresentationFormat>Szélesvásznú</PresentationFormat>
  <Paragraphs>13</Paragraphs>
  <Slides>23</Slides>
  <Notes>0</Notes>
  <HiddenSlides>0</HiddenSlides>
  <MMClips>0</MMClips>
  <ScaleCrop>false</ScaleCrop>
  <HeadingPairs>
    <vt:vector size="6" baseType="variant">
      <vt:variant>
        <vt:lpstr>Használt betűtípusok</vt:lpstr>
      </vt:variant>
      <vt:variant>
        <vt:i4>3</vt:i4>
      </vt:variant>
      <vt:variant>
        <vt:lpstr>Téma</vt:lpstr>
      </vt:variant>
      <vt:variant>
        <vt:i4>1</vt:i4>
      </vt:variant>
      <vt:variant>
        <vt:lpstr>Diacímek</vt:lpstr>
      </vt:variant>
      <vt:variant>
        <vt:i4>23</vt:i4>
      </vt:variant>
    </vt:vector>
  </HeadingPairs>
  <TitlesOfParts>
    <vt:vector size="27" baseType="lpstr">
      <vt:lpstr>Arial</vt:lpstr>
      <vt:lpstr>Trebuchet MS</vt:lpstr>
      <vt:lpstr>Wingdings 3</vt:lpstr>
      <vt:lpstr>Dimenzió</vt:lpstr>
      <vt:lpstr>Api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Api</dc:title>
  <dc:creator>Vizsgazo</dc:creator>
  <cp:lastModifiedBy>Vizsgazo</cp:lastModifiedBy>
  <cp:revision>5</cp:revision>
  <dcterms:created xsi:type="dcterms:W3CDTF">2026-01-06T11:04:57Z</dcterms:created>
  <dcterms:modified xsi:type="dcterms:W3CDTF">2026-01-06T11:31:07Z</dcterms:modified>
</cp:coreProperties>
</file>